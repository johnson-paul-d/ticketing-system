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2011680"/>
            <a:ext cx="6583680" cy="6583680"/>
          </a:xfrm>
          <a:prstGeom prst="ellipse">
            <a:avLst/>
          </a:prstGeom>
          <a:solidFill>
            <a:srgbClr val="004D4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749039"/>
            <a:ext cx="4572000" cy="4572000"/>
          </a:xfrm>
          <a:prstGeom prst="ellipse">
            <a:avLst/>
          </a:prstGeom>
          <a:solidFill>
            <a:srgbClr val="C9A96E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" y="4160520"/>
            <a:ext cx="2880360" cy="0"/>
          </a:xfrm>
          <a:prstGeom prst="line">
            <a:avLst/>
          </a:prstGeom>
          <a:ln w="17780">
            <a:solidFill>
              <a:srgbClr val="C9A96E">
                <a:alpha val="8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SOUTH INDIA  ·  LUXURY HOSPITALITY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54480"/>
            <a:ext cx="8778240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6000" b="0" i="0" lang="en-US" spc="-20">
                <a:solidFill>
                  <a:srgbClr val="FFFFFF"/>
                </a:solidFill>
                <a:latin typeface="Inter 24pt Light"/>
              </a:rPr>
              <a:t>Luxury Hospitality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6000" b="0" i="0" lang="en-US" spc="-20">
                <a:solidFill>
                  <a:srgbClr val="FFFFFF"/>
                </a:solidFill>
                <a:latin typeface="Inter 24pt Light"/>
              </a:rPr>
              <a:t>Is Growing.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6000" b="1" i="0" lang="en-US" spc="-20">
                <a:solidFill>
                  <a:srgbClr val="C9A96E"/>
                </a:solidFill>
                <a:latin typeface="Inter 24pt"/>
              </a:rPr>
              <a:t>Parking Shouldn't </a:t>
            </a:r>
            <a:r>
              <a:rPr sz="6000" b="1" i="0" lang="en-US" spc="-20">
                <a:solidFill>
                  <a:srgbClr val="C9A96E"/>
                </a:solidFill>
                <a:latin typeface="Inter 24pt"/>
              </a:rPr>
              <a:t>Hold It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70832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650" b="0" i="0" lang="en-US">
                <a:solidFill>
                  <a:srgbClr val="B0BEC5"/>
                </a:solidFill>
                <a:latin typeface="Inter 18pt Light"/>
              </a:rPr>
              <a:t>How South India's leading hotels can increase parking capacity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650" b="0" i="0" lang="en-US">
                <a:solidFill>
                  <a:srgbClr val="B0BEC5"/>
                </a:solidFill>
                <a:latin typeface="Inter 18pt Light"/>
              </a:rPr>
              <a:t>by up to </a:t>
            </a:r>
            <a:r>
              <a:rPr sz="1650" b="1" i="0" lang="en-US">
                <a:solidFill>
                  <a:srgbClr val="C9A96E"/>
                </a:solidFill>
                <a:latin typeface="Inter 24pt"/>
              </a:rPr>
              <a:t>4×</a:t>
            </a:r>
            <a:r>
              <a:rPr sz="1650" b="0" i="0" lang="en-US">
                <a:solidFill>
                  <a:srgbClr val="B0BEC5"/>
                </a:solidFill>
                <a:latin typeface="Inter 18pt Light"/>
              </a:rPr>
              <a:t>  — without acquiring an inch of land.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440680"/>
            <a:ext cx="3456432" cy="1078992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96E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5586984"/>
            <a:ext cx="299923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 lang="en-US" spc="-10">
                <a:solidFill>
                  <a:srgbClr val="C9A96E"/>
                </a:solidFill>
                <a:latin typeface="Inter 24pt"/>
              </a:rPr>
              <a:t>10,000+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6117336"/>
            <a:ext cx="299923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 spc="180">
                <a:solidFill>
                  <a:srgbClr val="B0BEC5"/>
                </a:solidFill>
                <a:latin typeface="Inter 24pt"/>
              </a:rPr>
              <a:t>PARKING SPACES DELIVERED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5440680"/>
            <a:ext cx="3456432" cy="1078992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96E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5586984"/>
            <a:ext cx="299923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 lang="en-US" spc="-10">
                <a:solidFill>
                  <a:srgbClr val="C9A96E"/>
                </a:solidFill>
                <a:latin typeface="Inter 24pt"/>
              </a:rPr>
              <a:t>30+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6117336"/>
            <a:ext cx="299923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 spc="180">
                <a:solidFill>
                  <a:srgbClr val="B0BEC5"/>
                </a:solidFill>
                <a:latin typeface="Inter 24pt"/>
              </a:rPr>
              <a:t>YEARS OF ENGINEERING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9288" y="5440680"/>
            <a:ext cx="3456432" cy="1078992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96E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5586984"/>
            <a:ext cx="299923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 lang="en-US" spc="-10">
                <a:solidFill>
                  <a:srgbClr val="C9A96E"/>
                </a:solidFill>
                <a:latin typeface="Inter 24pt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6117336"/>
            <a:ext cx="299923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 spc="180">
                <a:solidFill>
                  <a:srgbClr val="B0BEC5"/>
                </a:solidFill>
                <a:latin typeface="Inter 24pt"/>
              </a:rPr>
              <a:t>MADE IN INDIA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548640"/>
            <a:ext cx="310896" cy="0"/>
          </a:xfrm>
          <a:prstGeom prst="line">
            <a:avLst/>
          </a:prstGeom>
          <a:ln w="17780">
            <a:solidFill>
              <a:srgbClr val="C9A96E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6928" y="548640"/>
            <a:ext cx="0" cy="310896"/>
          </a:xfrm>
          <a:prstGeom prst="line">
            <a:avLst/>
          </a:prstGeom>
          <a:ln w="17780">
            <a:solidFill>
              <a:srgbClr val="C9A96E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313871" y="548640"/>
            <a:ext cx="310896" cy="0"/>
          </a:xfrm>
          <a:prstGeom prst="line">
            <a:avLst/>
          </a:prstGeom>
          <a:ln w="17780">
            <a:solidFill>
              <a:srgbClr val="C9A96E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313871" y="548640"/>
            <a:ext cx="0" cy="310896"/>
          </a:xfrm>
          <a:prstGeom prst="line">
            <a:avLst/>
          </a:prstGeom>
          <a:ln w="17780">
            <a:solidFill>
              <a:srgbClr val="C9A96E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01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8121F"/>
              </a:gs>
              <a:gs pos="100000">
                <a:srgbClr val="050C1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71323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  ·  THE MARKET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097280"/>
            <a:ext cx="78638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300" b="0" i="0" lang="en-US" spc="-10">
                <a:solidFill>
                  <a:srgbClr val="FFFFFF"/>
                </a:solidFill>
                <a:latin typeface="Inter 24pt Light"/>
              </a:rPr>
              <a:t>South India Is Building Luxury</a:t>
            </a:r>
          </a:p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300" b="0" i="0" lang="en-US" spc="-10">
                <a:solidFill>
                  <a:srgbClr val="FFFFFF"/>
                </a:solidFill>
                <a:latin typeface="Inter 24pt Light"/>
              </a:rPr>
              <a:t>Faster Than </a:t>
            </a:r>
            <a:r>
              <a:rPr sz="3300" b="1" i="0" lang="en-US" spc="-10">
                <a:solidFill>
                  <a:srgbClr val="C9A96E"/>
                </a:solidFill>
                <a:latin typeface="Inter 24pt"/>
              </a:rPr>
              <a:t>Parking.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6888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28C7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670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 spc="260">
                <a:solidFill>
                  <a:srgbClr val="128C76"/>
                </a:solidFill>
                <a:latin typeface="Inter 24pt"/>
              </a:rPr>
              <a:t>GROWTH CORRIDOR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74519" y="3246120"/>
            <a:ext cx="457201" cy="1051560"/>
          </a:xfrm>
          <a:prstGeom prst="line">
            <a:avLst/>
          </a:prstGeom>
          <a:ln w="9525">
            <a:solidFill>
              <a:srgbClr val="C9A96E">
                <a:alpha val="28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74519" y="4069080"/>
            <a:ext cx="2286001" cy="228600"/>
          </a:xfrm>
          <a:prstGeom prst="line">
            <a:avLst/>
          </a:prstGeom>
          <a:ln w="9525">
            <a:solidFill>
              <a:srgbClr val="C9A96E">
                <a:alpha val="28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148840" y="4069080"/>
            <a:ext cx="2011680" cy="1188720"/>
          </a:xfrm>
          <a:prstGeom prst="line">
            <a:avLst/>
          </a:prstGeom>
          <a:ln w="9525">
            <a:solidFill>
              <a:srgbClr val="C9A96E">
                <a:alpha val="28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148840" y="4754880"/>
            <a:ext cx="777240" cy="502920"/>
          </a:xfrm>
          <a:prstGeom prst="line">
            <a:avLst/>
          </a:prstGeom>
          <a:ln w="9525">
            <a:solidFill>
              <a:srgbClr val="C9A96E">
                <a:alpha val="28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3246120"/>
            <a:ext cx="1828800" cy="822960"/>
          </a:xfrm>
          <a:prstGeom prst="line">
            <a:avLst/>
          </a:prstGeom>
          <a:ln w="9525">
            <a:solidFill>
              <a:srgbClr val="C9A96E">
                <a:alpha val="28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139696" y="3054096"/>
            <a:ext cx="384048" cy="384048"/>
          </a:xfrm>
          <a:prstGeom prst="ellipse">
            <a:avLst/>
          </a:prstGeom>
          <a:solidFill>
            <a:srgbClr val="004D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53996" y="3168396"/>
            <a:ext cx="155448" cy="155448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99715" y="321411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2888" y="3099815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 lang="en-US" spc="20">
                <a:solidFill>
                  <a:srgbClr val="FFFFFF"/>
                </a:solidFill>
                <a:latin typeface="Inter 18pt"/>
              </a:rPr>
              <a:t>Hyderabad</a:t>
            </a:r>
          </a:p>
        </p:txBody>
      </p:sp>
      <p:sp>
        <p:nvSpPr>
          <p:cNvPr id="28" name="Oval 27"/>
          <p:cNvSpPr/>
          <p:nvPr/>
        </p:nvSpPr>
        <p:spPr>
          <a:xfrm>
            <a:off x="1682495" y="4105656"/>
            <a:ext cx="384048" cy="384048"/>
          </a:xfrm>
          <a:prstGeom prst="ellipse">
            <a:avLst/>
          </a:prstGeom>
          <a:solidFill>
            <a:srgbClr val="004D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96795" y="4219956"/>
            <a:ext cx="155448" cy="155448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42515" y="426567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8" y="4151376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 lang="en-US" spc="20">
                <a:solidFill>
                  <a:srgbClr val="FFFFFF"/>
                </a:solidFill>
                <a:latin typeface="Inter 18pt"/>
              </a:rPr>
              <a:t>Bengaluru</a:t>
            </a:r>
          </a:p>
        </p:txBody>
      </p:sp>
      <p:sp>
        <p:nvSpPr>
          <p:cNvPr id="32" name="Oval 31"/>
          <p:cNvSpPr/>
          <p:nvPr/>
        </p:nvSpPr>
        <p:spPr>
          <a:xfrm>
            <a:off x="3968496" y="3877056"/>
            <a:ext cx="384048" cy="384048"/>
          </a:xfrm>
          <a:prstGeom prst="ellipse">
            <a:avLst/>
          </a:prstGeom>
          <a:solidFill>
            <a:srgbClr val="004D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82796" y="3991356"/>
            <a:ext cx="155448" cy="155448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28515" y="403707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3922776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 lang="en-US" spc="20">
                <a:solidFill>
                  <a:srgbClr val="FFFFFF"/>
                </a:solidFill>
                <a:latin typeface="Inter 18pt"/>
              </a:rPr>
              <a:t>Chennai</a:t>
            </a:r>
          </a:p>
        </p:txBody>
      </p:sp>
      <p:sp>
        <p:nvSpPr>
          <p:cNvPr id="36" name="Oval 35"/>
          <p:cNvSpPr/>
          <p:nvPr/>
        </p:nvSpPr>
        <p:spPr>
          <a:xfrm>
            <a:off x="1956816" y="5065776"/>
            <a:ext cx="384048" cy="384048"/>
          </a:xfrm>
          <a:prstGeom prst="ellipse">
            <a:avLst/>
          </a:prstGeom>
          <a:solidFill>
            <a:srgbClr val="004D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071116" y="5180076"/>
            <a:ext cx="155448" cy="155448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16836" y="522579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0008" y="5111496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 lang="en-US" spc="20">
                <a:solidFill>
                  <a:srgbClr val="FFFFFF"/>
                </a:solidFill>
                <a:latin typeface="Inter 18pt"/>
              </a:rPr>
              <a:t>Kochi</a:t>
            </a:r>
          </a:p>
        </p:txBody>
      </p:sp>
      <p:sp>
        <p:nvSpPr>
          <p:cNvPr id="40" name="Oval 39"/>
          <p:cNvSpPr/>
          <p:nvPr/>
        </p:nvSpPr>
        <p:spPr>
          <a:xfrm>
            <a:off x="2734056" y="4562856"/>
            <a:ext cx="384048" cy="384048"/>
          </a:xfrm>
          <a:prstGeom prst="ellipse">
            <a:avLst/>
          </a:prstGeom>
          <a:solidFill>
            <a:srgbClr val="004D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48356" y="4677156"/>
            <a:ext cx="155448" cy="155448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94076" y="472287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27248" y="4608576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 lang="en-US" spc="20">
                <a:solidFill>
                  <a:srgbClr val="FFFFFF"/>
                </a:solidFill>
                <a:latin typeface="Inter 18pt"/>
              </a:rPr>
              <a:t>Coimbatore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2468880"/>
            <a:ext cx="4800600" cy="512064"/>
          </a:xfrm>
          <a:prstGeom prst="roundRect">
            <a:avLst>
              <a:gd name="adj" fmla="val 1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12864" y="2670048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2048" y="2468880"/>
            <a:ext cx="38862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20">
                <a:solidFill>
                  <a:srgbClr val="FFFFFF"/>
                </a:solidFill>
                <a:latin typeface="Inter 18pt"/>
              </a:rPr>
              <a:t>Luxury Tourism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3058668"/>
            <a:ext cx="4800600" cy="512064"/>
          </a:xfrm>
          <a:prstGeom prst="roundRect">
            <a:avLst>
              <a:gd name="adj" fmla="val 1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12864" y="3259836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42048" y="3058668"/>
            <a:ext cx="38862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20">
                <a:solidFill>
                  <a:srgbClr val="FFFFFF"/>
                </a:solidFill>
                <a:latin typeface="Inter 18pt"/>
              </a:rPr>
              <a:t>IT &amp; Business Travel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3648456"/>
            <a:ext cx="4800600" cy="512064"/>
          </a:xfrm>
          <a:prstGeom prst="roundRect">
            <a:avLst>
              <a:gd name="adj" fmla="val 1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12864" y="3849624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42048" y="3648456"/>
            <a:ext cx="38862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20">
                <a:solidFill>
                  <a:srgbClr val="FFFFFF"/>
                </a:solidFill>
                <a:latin typeface="Inter 18pt"/>
              </a:rPr>
              <a:t>Destination Weddings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4238244"/>
            <a:ext cx="4800600" cy="512064"/>
          </a:xfrm>
          <a:prstGeom prst="roundRect">
            <a:avLst>
              <a:gd name="adj" fmla="val 1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12864" y="4439412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42048" y="4238244"/>
            <a:ext cx="38862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20">
                <a:solidFill>
                  <a:srgbClr val="FFFFFF"/>
                </a:solidFill>
                <a:latin typeface="Inter 18pt"/>
              </a:rPr>
              <a:t>Medical Tourism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4828032"/>
            <a:ext cx="4800600" cy="512064"/>
          </a:xfrm>
          <a:prstGeom prst="roundRect">
            <a:avLst>
              <a:gd name="adj" fmla="val 1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912864" y="5029200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42048" y="4828032"/>
            <a:ext cx="38862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20">
                <a:solidFill>
                  <a:srgbClr val="FFFFFF"/>
                </a:solidFill>
                <a:latin typeface="Inter 18pt"/>
              </a:rPr>
              <a:t>Convention Centers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0" y="5417820"/>
            <a:ext cx="4800600" cy="512064"/>
          </a:xfrm>
          <a:prstGeom prst="roundRect">
            <a:avLst>
              <a:gd name="adj" fmla="val 1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912864" y="5618988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42048" y="5417820"/>
            <a:ext cx="38862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20">
                <a:solidFill>
                  <a:srgbClr val="FFFFFF"/>
                </a:solidFill>
                <a:latin typeface="Inter 18pt"/>
              </a:rPr>
              <a:t>Premium Branded Residences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1" lang="en-US">
                <a:solidFill>
                  <a:srgbClr val="B0BEC5"/>
                </a:solidFill>
                <a:latin typeface="Inter 18pt Light"/>
              </a:rPr>
              <a:t>Luxury room inventory is growing rapidly — while arrival infrastructure remains static.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02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7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291839"/>
            <a:ext cx="5486400" cy="5486400"/>
          </a:xfrm>
          <a:prstGeom prst="ellipse">
            <a:avLst/>
          </a:prstGeom>
          <a:solidFill>
            <a:srgbClr val="0E1E3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  ·  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000" b="0" i="0" lang="en-US" spc="-8">
                <a:solidFill>
                  <a:srgbClr val="FFFFFF"/>
                </a:solidFill>
                <a:latin typeface="Inter 24pt Light"/>
              </a:rPr>
              <a:t>Parking Is No Longer Just a Facility.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000" b="0" i="0" lang="en-US" spc="-8">
                <a:solidFill>
                  <a:srgbClr val="FFFFFF"/>
                </a:solidFill>
                <a:latin typeface="Inter 24pt Light"/>
              </a:rPr>
              <a:t>It Is Part of the </a:t>
            </a:r>
            <a:r>
              <a:rPr sz="3000" b="1" i="0" lang="en-US" spc="-8">
                <a:solidFill>
                  <a:srgbClr val="C9A96E"/>
                </a:solidFill>
                <a:latin typeface="Inter 24pt"/>
              </a:rPr>
              <a:t>Guest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240">
                <a:solidFill>
                  <a:srgbClr val="C9A96E"/>
                </a:solidFill>
                <a:latin typeface="Inter 24pt"/>
              </a:rPr>
              <a:t>THE ARRIVAL BREAKDOWN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3282696"/>
            <a:ext cx="0" cy="438912"/>
          </a:xfrm>
          <a:prstGeom prst="line">
            <a:avLst/>
          </a:prstGeom>
          <a:ln w="15240">
            <a:solidFill>
              <a:srgbClr val="C9A96E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60119" y="3108960"/>
            <a:ext cx="182880" cy="182880"/>
          </a:xfrm>
          <a:prstGeom prst="ellipse">
            <a:avLst/>
          </a:prstGeom>
          <a:solidFill>
            <a:srgbClr val="C9A96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3" y="3163824"/>
            <a:ext cx="73152" cy="73152"/>
          </a:xfrm>
          <a:prstGeom prst="ellipse">
            <a:avLst/>
          </a:prstGeom>
          <a:solidFill>
            <a:srgbClr val="08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3044952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10">
                <a:solidFill>
                  <a:srgbClr val="FFFFFF"/>
                </a:solidFill>
                <a:latin typeface="Inter 18pt"/>
              </a:rPr>
              <a:t>Guest Arrives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3886200"/>
            <a:ext cx="0" cy="438912"/>
          </a:xfrm>
          <a:prstGeom prst="line">
            <a:avLst/>
          </a:prstGeom>
          <a:ln w="15240">
            <a:solidFill>
              <a:srgbClr val="C9A96E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60119" y="3712464"/>
            <a:ext cx="182880" cy="182880"/>
          </a:xfrm>
          <a:prstGeom prst="ellipse">
            <a:avLst/>
          </a:prstGeom>
          <a:solidFill>
            <a:srgbClr val="C9A96E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4983" y="3767328"/>
            <a:ext cx="73152" cy="73152"/>
          </a:xfrm>
          <a:prstGeom prst="ellipse">
            <a:avLst/>
          </a:prstGeom>
          <a:solidFill>
            <a:srgbClr val="08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64845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10">
                <a:solidFill>
                  <a:srgbClr val="FFFFFF"/>
                </a:solidFill>
                <a:latin typeface="Inter 18pt"/>
              </a:rPr>
              <a:t>No Parking / Valet Queue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4489704"/>
            <a:ext cx="0" cy="438912"/>
          </a:xfrm>
          <a:prstGeom prst="line">
            <a:avLst/>
          </a:prstGeom>
          <a:ln w="15240">
            <a:solidFill>
              <a:srgbClr val="C9A96E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60119" y="4315968"/>
            <a:ext cx="182880" cy="182880"/>
          </a:xfrm>
          <a:prstGeom prst="ellipse">
            <a:avLst/>
          </a:prstGeom>
          <a:solidFill>
            <a:srgbClr val="C9A96E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4983" y="4370832"/>
            <a:ext cx="73152" cy="73152"/>
          </a:xfrm>
          <a:prstGeom prst="ellipse">
            <a:avLst/>
          </a:prstGeom>
          <a:solidFill>
            <a:srgbClr val="08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19" y="425196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10">
                <a:solidFill>
                  <a:srgbClr val="B0BEC5"/>
                </a:solidFill>
                <a:latin typeface="Inter 18pt"/>
              </a:rPr>
              <a:t>Traffic Congestion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1560" y="5093208"/>
            <a:ext cx="0" cy="438912"/>
          </a:xfrm>
          <a:prstGeom prst="line">
            <a:avLst/>
          </a:prstGeom>
          <a:ln w="15240">
            <a:solidFill>
              <a:srgbClr val="C9A96E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60119" y="4919472"/>
            <a:ext cx="182880" cy="182880"/>
          </a:xfrm>
          <a:prstGeom prst="ellipse">
            <a:avLst/>
          </a:prstGeom>
          <a:solidFill>
            <a:srgbClr val="C9A96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3" y="4974336"/>
            <a:ext cx="73152" cy="73152"/>
          </a:xfrm>
          <a:prstGeom prst="ellipse">
            <a:avLst/>
          </a:prstGeom>
          <a:solidFill>
            <a:srgbClr val="08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19" y="4855464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10">
                <a:solidFill>
                  <a:srgbClr val="B0BEC5"/>
                </a:solidFill>
                <a:latin typeface="Inter 18pt"/>
              </a:rPr>
              <a:t>Delayed Check-in</a:t>
            </a:r>
          </a:p>
        </p:txBody>
      </p:sp>
      <p:sp>
        <p:nvSpPr>
          <p:cNvPr id="23" name="Oval 22"/>
          <p:cNvSpPr/>
          <p:nvPr/>
        </p:nvSpPr>
        <p:spPr>
          <a:xfrm>
            <a:off x="960119" y="5522976"/>
            <a:ext cx="182880" cy="182880"/>
          </a:xfrm>
          <a:prstGeom prst="ellipse">
            <a:avLst/>
          </a:prstGeom>
          <a:solidFill>
            <a:srgbClr val="C9A96E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3" y="5577840"/>
            <a:ext cx="73152" cy="73152"/>
          </a:xfrm>
          <a:prstGeom prst="ellipse">
            <a:avLst/>
          </a:prstGeom>
          <a:solidFill>
            <a:srgbClr val="08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19" y="545896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 spc="10">
                <a:solidFill>
                  <a:srgbClr val="C0554D"/>
                </a:solidFill>
                <a:latin typeface="Inter 18pt"/>
              </a:rPr>
              <a:t>Poor First Impression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697480"/>
            <a:ext cx="5029200" cy="324612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240">
                <a:solidFill>
                  <a:srgbClr val="C9A96E"/>
                </a:solidFill>
                <a:latin typeface="Inter 24pt"/>
              </a:rPr>
              <a:t>REVENUE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0156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 lang="en-US" spc="10">
                <a:solidFill>
                  <a:srgbClr val="FFFFFF"/>
                </a:solidFill>
                <a:latin typeface="Inter 18pt"/>
              </a:rPr>
              <a:t>Guest Satisfaction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340156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0554D"/>
                </a:solidFill>
                <a:latin typeface="Inter 24pt"/>
              </a:rPr>
              <a:t>↓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75120" y="3840480"/>
            <a:ext cx="4434840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75120" y="390448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 lang="en-US" spc="10">
                <a:solidFill>
                  <a:srgbClr val="FFFFFF"/>
                </a:solidFill>
                <a:latin typeface="Inter 18pt"/>
              </a:rPr>
              <a:t>Brand Perception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390448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0554D"/>
                </a:solidFill>
                <a:latin typeface="Inter 24pt"/>
              </a:rPr>
              <a:t>↓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75120" y="4343400"/>
            <a:ext cx="4434840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75120" y="440740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 lang="en-US" spc="10">
                <a:solidFill>
                  <a:srgbClr val="FFFFFF"/>
                </a:solidFill>
                <a:latin typeface="Inter 18pt"/>
              </a:rPr>
              <a:t>Operational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440740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0554D"/>
                </a:solidFill>
                <a:latin typeface="Inter 24pt"/>
              </a:rPr>
              <a:t>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75120" y="4846320"/>
            <a:ext cx="4434840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75120" y="491032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 lang="en-US" spc="10">
                <a:solidFill>
                  <a:srgbClr val="FFFFFF"/>
                </a:solidFill>
                <a:latin typeface="Inter 18pt"/>
              </a:rPr>
              <a:t>Valet Dependency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491032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0554D"/>
                </a:solidFill>
                <a:latin typeface="Inter 24pt"/>
              </a:rPr>
              <a:t>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675120" y="5349240"/>
            <a:ext cx="4434840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75120" y="541324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 lang="en-US" spc="10">
                <a:solidFill>
                  <a:srgbClr val="FFFFFF"/>
                </a:solidFill>
                <a:latin typeface="Inter 18pt"/>
              </a:rPr>
              <a:t>Lost Event 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54132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0554D"/>
                </a:solidFill>
                <a:latin typeface="Inter 24pt"/>
              </a:rPr>
              <a:t>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2960" y="6263640"/>
            <a:ext cx="0" cy="320040"/>
          </a:xfrm>
          <a:prstGeom prst="line">
            <a:avLst/>
          </a:prstGeom>
          <a:ln w="27940">
            <a:solidFill>
              <a:srgbClr val="C9A9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05840" y="6217920"/>
            <a:ext cx="100584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1" lang="en-US">
                <a:solidFill>
                  <a:srgbClr val="E4CC9A"/>
                </a:solidFill>
                <a:latin typeface="Inter 18pt Light"/>
              </a:rPr>
              <a:t>“Guests form their first impression before they ever enter your lobby.”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03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8121F"/>
              </a:gs>
              <a:gs pos="100000">
                <a:srgbClr val="050C1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015898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2031796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3047695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4063593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079492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095390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58368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  ·  THE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02412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0" i="0" lang="en-US" spc="-10">
                <a:solidFill>
                  <a:srgbClr val="FFFFFF"/>
                </a:solidFill>
                <a:latin typeface="Inter 24pt Light"/>
              </a:rPr>
              <a:t>Luxury Hotels Need </a:t>
            </a:r>
            <a:r>
              <a:rPr sz="3300" b="1" i="0" lang="en-US" spc="-10">
                <a:solidFill>
                  <a:srgbClr val="C9A96E"/>
                </a:solidFill>
                <a:latin typeface="Inter 24pt"/>
              </a:rPr>
              <a:t>More Parking.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6276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0" i="0" lang="en-US" spc="-10">
                <a:solidFill>
                  <a:srgbClr val="FFFFFF"/>
                </a:solidFill>
                <a:latin typeface="Inter 24pt Light"/>
              </a:rPr>
              <a:t>Not More Land.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514600"/>
            <a:ext cx="5029200" cy="3246120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6B7A85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27706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0">
                <a:solidFill>
                  <a:srgbClr val="B0BEC5"/>
                </a:solidFill>
                <a:latin typeface="Inter 24pt"/>
              </a:rPr>
              <a:t>TRADITIONAL PARKING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3832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B0BEC5"/>
                </a:solidFill>
                <a:latin typeface="Inter 24pt"/>
              </a:rPr>
              <a:t>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3832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6B7A85"/>
                </a:solidFill>
                <a:latin typeface="Inter 18pt"/>
              </a:rPr>
              <a:t>Cars accommodated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5020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B0BEC5"/>
                </a:solidFill>
                <a:latin typeface="Inter 24pt"/>
              </a:rPr>
              <a:t>Large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9502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6B7A85"/>
                </a:solidFill>
                <a:latin typeface="Inter 18pt"/>
              </a:rPr>
              <a:t>Basement footprint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517136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B0BEC5"/>
                </a:solidFill>
                <a:latin typeface="Inter 24pt"/>
              </a:rPr>
              <a:t>Long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51713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6B7A85"/>
                </a:solidFill>
                <a:latin typeface="Inter 18pt"/>
              </a:rPr>
              <a:t>Vehicle search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84064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B0BEC5"/>
                </a:solidFill>
                <a:latin typeface="Inter 24pt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08406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6B7A85"/>
                </a:solidFill>
                <a:latin typeface="Inter 18pt"/>
              </a:rPr>
              <a:t>Operating expense</a:t>
            </a:r>
          </a:p>
        </p:txBody>
      </p:sp>
      <p:sp>
        <p:nvSpPr>
          <p:cNvPr id="34" name="Chevron 33"/>
          <p:cNvSpPr/>
          <p:nvPr/>
        </p:nvSpPr>
        <p:spPr>
          <a:xfrm>
            <a:off x="5989320" y="3886200"/>
            <a:ext cx="868680" cy="548640"/>
          </a:xfrm>
          <a:prstGeom prst="chevron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2514600"/>
            <a:ext cx="5029200" cy="324612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9A96E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7706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160">
                <a:solidFill>
                  <a:srgbClr val="C9A96E"/>
                </a:solidFill>
                <a:latin typeface="Inter 24pt"/>
              </a:rPr>
              <a:t>MLCP — MULTI-LEVEL CAR PARK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38328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C9A96E"/>
                </a:solidFill>
                <a:latin typeface="Inter 24pt"/>
              </a:rPr>
              <a:t>250+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FFFFFF"/>
                </a:solidFill>
                <a:latin typeface="Inter 18pt"/>
              </a:rPr>
              <a:t>Cars accommodated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95020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C9A96E"/>
                </a:solidFill>
                <a:latin typeface="Inter 24pt"/>
              </a:rPr>
              <a:t>Same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950208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FFFFFF"/>
                </a:solidFill>
                <a:latin typeface="Inter 18pt"/>
              </a:rPr>
              <a:t>Footprint retained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517136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C9A96E"/>
                </a:solidFill>
                <a:latin typeface="Inter 24pt"/>
              </a:rPr>
              <a:t>Auto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517136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FFFFFF"/>
                </a:solidFill>
                <a:latin typeface="Inter 18pt"/>
              </a:rPr>
              <a:t>Retrieval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084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 lang="en-US">
                <a:solidFill>
                  <a:srgbClr val="C9A96E"/>
                </a:solidFill>
                <a:latin typeface="Inter 24pt"/>
              </a:rPr>
              <a:t>Premium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08406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 lang="en-US" spc="10">
                <a:solidFill>
                  <a:srgbClr val="FFFFFF"/>
                </a:solidFill>
                <a:latin typeface="Inter 18pt"/>
              </a:rPr>
              <a:t>Arrival experience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144768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50" b="0" i="0" lang="en-US">
                <a:solidFill>
                  <a:srgbClr val="B0BEC5"/>
                </a:solidFill>
                <a:latin typeface="Inter 18pt Light"/>
              </a:rPr>
              <a:t>Capacity can increase up to </a:t>
            </a:r>
            <a:r>
              <a:rPr sz="1350" b="1" i="0" lang="en-US">
                <a:solidFill>
                  <a:srgbClr val="C9A96E"/>
                </a:solidFill>
                <a:latin typeface="Inter 24pt"/>
              </a:rPr>
              <a:t>4× </a:t>
            </a:r>
            <a:r>
              <a:rPr sz="1350" b="0" i="0" lang="en-US">
                <a:solidFill>
                  <a:srgbClr val="B0BEC5"/>
                </a:solidFill>
                <a:latin typeface="Inter 18pt Light"/>
              </a:rPr>
              <a:t>on the same land footprint.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04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48839" y="-777240"/>
            <a:ext cx="7772400" cy="7772400"/>
          </a:xfrm>
          <a:prstGeom prst="ellipse">
            <a:avLst/>
          </a:prstGeom>
          <a:solidFill>
            <a:srgbClr val="004D40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  ·  THE MARKET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300" b="0" i="0" lang="en-US" spc="-10">
                <a:solidFill>
                  <a:srgbClr val="FFFFFF"/>
                </a:solidFill>
                <a:latin typeface="Inter 24pt Light"/>
              </a:rPr>
              <a:t>Luxury Hospitality Is</a:t>
            </a:r>
          </a:p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300" b="0" i="0" lang="en-US" spc="-10">
                <a:solidFill>
                  <a:srgbClr val="FFFFFF"/>
                </a:solidFill>
                <a:latin typeface="Inter 24pt Light"/>
              </a:rPr>
              <a:t>Raising the </a:t>
            </a:r>
            <a:r>
              <a:rPr sz="3300" b="1" i="0" lang="en-US" spc="-10">
                <a:solidFill>
                  <a:srgbClr val="C9A96E"/>
                </a:solidFill>
                <a:latin typeface="Inter 24pt"/>
              </a:rPr>
              <a:t>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ITC Grand Chola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788920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788920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The Leela Palace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788920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8920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Taj Coromandel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788920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788920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Ritz-Carlton, Bengaluru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2788920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788920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JW Marriott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50791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1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The Oberoi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4050791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050791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Park Hyatt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4050791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4050791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Sheraton Grand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4050791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4050791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Conrad Bengaluru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4050791"/>
            <a:ext cx="2029968" cy="1078992"/>
          </a:xfrm>
          <a:prstGeom prst="roundRect">
            <a:avLst>
              <a:gd name="adj" fmla="val 7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4050791"/>
            <a:ext cx="1755648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 i="0" lang="en-US" spc="20">
                <a:solidFill>
                  <a:srgbClr val="FFFFFF"/>
                </a:solidFill>
                <a:latin typeface="Inter 24pt"/>
              </a:rPr>
              <a:t>Radisson Blu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50" b="0" i="1" lang="en-US">
                <a:solidFill>
                  <a:srgbClr val="B0BEC5"/>
                </a:solidFill>
                <a:latin typeface="Inter 18pt Light"/>
              </a:rPr>
              <a:t>Premium hotels across South India continue investing in technology and elevated arrival experiences — parking is becoming part of that transformation.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05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8121F"/>
              </a:gs>
              <a:gs pos="100000">
                <a:srgbClr val="050C1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050C16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004D4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77559" y="0"/>
            <a:ext cx="41148" cy="6858000"/>
          </a:xfrm>
          <a:prstGeom prst="rect">
            <a:avLst/>
          </a:prstGeom>
          <a:solidFill>
            <a:srgbClr val="C9A96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5592927" y="3154680"/>
            <a:ext cx="1005840" cy="566928"/>
          </a:xfrm>
          <a:prstGeom prst="chevron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73152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  ·  THE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000" b="0" i="0" lang="en-US" spc="-8">
                <a:solidFill>
                  <a:srgbClr val="FFFFFF"/>
                </a:solidFill>
                <a:latin typeface="Inter 24pt Light"/>
              </a:rPr>
              <a:t>The Same Footprint.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000" b="0" i="0" lang="en-US" spc="-8">
                <a:solidFill>
                  <a:srgbClr val="FFFFFF"/>
                </a:solidFill>
                <a:latin typeface="Inter 24pt Light"/>
              </a:rPr>
              <a:t>A Completely Different </a:t>
            </a:r>
            <a:r>
              <a:rPr sz="3000" b="1" i="0" lang="en-US" spc="-8">
                <a:solidFill>
                  <a:srgbClr val="C9A96E"/>
                </a:solidFill>
                <a:latin typeface="Inter 24pt"/>
              </a:rPr>
              <a:t>Arrival.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 spc="420">
                <a:solidFill>
                  <a:srgbClr val="6B7A85"/>
                </a:solidFill>
                <a:latin typeface="Inter 24pt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0" i="0" lang="en-US">
                <a:solidFill>
                  <a:srgbClr val="B0BEC5"/>
                </a:solidFill>
                <a:latin typeface="Inter 24pt Light"/>
              </a:rPr>
              <a:t>Congestion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200" b="0" i="0" lang="en-US">
                <a:solidFill>
                  <a:srgbClr val="6B7A85"/>
                </a:solidFill>
                <a:latin typeface="Inter 24pt Light"/>
              </a:rPr>
              <a:t>&amp; Limited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C0554D"/>
                </a:solidFill>
                <a:latin typeface="Inter 24pt"/>
              </a:rPr>
              <a:t>—  </a:t>
            </a:r>
            <a:r>
              <a:rPr sz="1250" b="0" i="0" lang="en-US" spc="10">
                <a:solidFill>
                  <a:srgbClr val="B0BEC5"/>
                </a:solidFill>
                <a:latin typeface="Inter 18pt"/>
              </a:rPr>
              <a:t>Valet bottlenecks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10328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C0554D"/>
                </a:solidFill>
                <a:latin typeface="Inter 24pt"/>
              </a:rPr>
              <a:t>—  </a:t>
            </a:r>
            <a:r>
              <a:rPr sz="1250" b="0" i="0" lang="en-US" spc="10">
                <a:solidFill>
                  <a:srgbClr val="B0BEC5"/>
                </a:solidFill>
                <a:latin typeface="Inter 18pt"/>
              </a:rPr>
              <a:t>Guest wait 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4376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C0554D"/>
                </a:solidFill>
                <a:latin typeface="Inter 24pt"/>
              </a:rPr>
              <a:t>—  </a:t>
            </a:r>
            <a:r>
              <a:rPr sz="1250" b="0" i="0" lang="en-US" spc="10">
                <a:solidFill>
                  <a:srgbClr val="B0BEC5"/>
                </a:solidFill>
                <a:latin typeface="Inter 18pt"/>
              </a:rPr>
              <a:t>Wasted basement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 spc="420">
                <a:solidFill>
                  <a:srgbClr val="C9A96E"/>
                </a:solidFill>
                <a:latin typeface="Inter 24pt"/>
              </a:rP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0" i="0" lang="en-US">
                <a:solidFill>
                  <a:srgbClr val="FFFFFF"/>
                </a:solidFill>
                <a:latin typeface="Inter 24pt Light"/>
              </a:rPr>
              <a:t>Elegance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200" b="0" i="0" lang="en-US">
                <a:solidFill>
                  <a:srgbClr val="C9A96E"/>
                </a:solidFill>
                <a:latin typeface="Inter 24pt Light"/>
              </a:rPr>
              <a:t>&amp; Expanded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2628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128C76"/>
                </a:solidFill>
                <a:latin typeface="Inter 24pt"/>
              </a:rPr>
              <a:t>+  </a:t>
            </a:r>
            <a:r>
              <a:rPr sz="1250" b="0" i="0" lang="en-US" spc="10">
                <a:solidFill>
                  <a:srgbClr val="FFFFFF"/>
                </a:solidFill>
                <a:latin typeface="Inter 18pt"/>
              </a:rPr>
              <a:t>Seamless automated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910328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128C76"/>
                </a:solidFill>
                <a:latin typeface="Inter 24pt"/>
              </a:rPr>
              <a:t>+  </a:t>
            </a:r>
            <a:r>
              <a:rPr sz="1250" b="0" i="0" lang="en-US" spc="10">
                <a:solidFill>
                  <a:srgbClr val="FFFFFF"/>
                </a:solidFill>
                <a:latin typeface="Inter 18pt"/>
              </a:rPr>
              <a:t>Zero queue arrival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294376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128C76"/>
                </a:solidFill>
                <a:latin typeface="Inter 24pt"/>
              </a:rPr>
              <a:t>+  </a:t>
            </a:r>
            <a:r>
              <a:rPr sz="1250" b="0" i="0" lang="en-US" spc="10">
                <a:solidFill>
                  <a:srgbClr val="FFFFFF"/>
                </a:solidFill>
                <a:latin typeface="Inter 18pt"/>
              </a:rPr>
              <a:t>3× usable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06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71323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  ·  THE STRATEGIC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0" i="0" lang="en-US" spc="-10">
                <a:solidFill>
                  <a:srgbClr val="FFFFFF"/>
                </a:solidFill>
                <a:latin typeface="Inter 24pt Light"/>
              </a:rPr>
              <a:t>What MLCP </a:t>
            </a:r>
            <a:r>
              <a:rPr sz="3400" b="1" i="0" lang="en-US" spc="-10">
                <a:solidFill>
                  <a:srgbClr val="C9A96E"/>
                </a:solidFill>
                <a:latin typeface="Inter 24pt"/>
              </a:rPr>
              <a:t>Unlocks.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89904" y="2350007"/>
            <a:ext cx="0" cy="1627632"/>
          </a:xfrm>
          <a:prstGeom prst="line">
            <a:avLst/>
          </a:prstGeom>
          <a:ln w="9525">
            <a:solidFill>
              <a:srgbClr val="C9A96E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89904" y="2962828"/>
            <a:ext cx="3109844" cy="1014811"/>
          </a:xfrm>
          <a:prstGeom prst="line">
            <a:avLst/>
          </a:prstGeom>
          <a:ln w="9525">
            <a:solidFill>
              <a:srgbClr val="C9A96E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9904" y="3977639"/>
            <a:ext cx="3877912" cy="362183"/>
          </a:xfrm>
          <a:prstGeom prst="line">
            <a:avLst/>
          </a:prstGeom>
          <a:ln w="9525">
            <a:solidFill>
              <a:srgbClr val="C9A96E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9904" y="3977639"/>
            <a:ext cx="1725833" cy="1466446"/>
          </a:xfrm>
          <a:prstGeom prst="line">
            <a:avLst/>
          </a:prstGeom>
          <a:ln w="9525">
            <a:solidFill>
              <a:srgbClr val="C9A96E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364070" y="3977639"/>
            <a:ext cx="1725834" cy="1466446"/>
          </a:xfrm>
          <a:prstGeom prst="line">
            <a:avLst/>
          </a:prstGeom>
          <a:ln w="9525">
            <a:solidFill>
              <a:srgbClr val="C9A96E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211991" y="3977639"/>
            <a:ext cx="3877913" cy="362183"/>
          </a:xfrm>
          <a:prstGeom prst="line">
            <a:avLst/>
          </a:prstGeom>
          <a:ln w="9525">
            <a:solidFill>
              <a:srgbClr val="C9A96E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980059" y="2962828"/>
            <a:ext cx="3109845" cy="1014811"/>
          </a:xfrm>
          <a:prstGeom prst="line">
            <a:avLst/>
          </a:prstGeom>
          <a:ln w="9525">
            <a:solidFill>
              <a:srgbClr val="C9A96E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175504" y="3063239"/>
            <a:ext cx="1828800" cy="1828800"/>
          </a:xfrm>
          <a:prstGeom prst="ellipse">
            <a:avLst/>
          </a:prstGeom>
          <a:solidFill>
            <a:srgbClr val="C9A96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04104" y="3291839"/>
            <a:ext cx="1371600" cy="1371600"/>
          </a:xfrm>
          <a:prstGeom prst="ellipse">
            <a:avLst/>
          </a:prstGeom>
          <a:solidFill>
            <a:srgbClr val="004D40">
              <a:alpha val="70000"/>
            </a:srgbClr>
          </a:solidFill>
          <a:ln w="15240">
            <a:solidFill>
              <a:srgbClr val="C9A96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4104" y="3593591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400" b="1" i="0" lang="en-US" spc="80">
                <a:solidFill>
                  <a:srgbClr val="FFFFFF"/>
                </a:solidFill>
                <a:latin typeface="Inter 24pt"/>
              </a:rPr>
              <a:t>MLCP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4104" y="4050791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 lang="en-US" spc="240">
                <a:solidFill>
                  <a:srgbClr val="E4CC9A"/>
                </a:solidFill>
                <a:latin typeface="Inter 24pt"/>
              </a:rPr>
              <a:t>THE ASSET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9784" y="1993391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C9A96E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1224" y="1993391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">
                <a:solidFill>
                  <a:srgbClr val="FFFFFF"/>
                </a:solidFill>
                <a:latin typeface="Inter 24pt"/>
              </a:rPr>
              <a:t>More Parking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9628" y="2606212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C9A96E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1068" y="2606212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">
                <a:solidFill>
                  <a:srgbClr val="FFFFFF"/>
                </a:solidFill>
                <a:latin typeface="Inter 24pt"/>
              </a:rPr>
              <a:t>Faster Arrival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7696" y="3983206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C9A96E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9136" y="3983206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">
                <a:solidFill>
                  <a:srgbClr val="FFFFFF"/>
                </a:solidFill>
                <a:latin typeface="Inter 24pt"/>
              </a:rPr>
              <a:t>Premium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5617" y="5087469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C9A96E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7057" y="5087469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">
                <a:solidFill>
                  <a:srgbClr val="FFFFFF"/>
                </a:solidFill>
                <a:latin typeface="Inter 24pt"/>
              </a:rPr>
              <a:t>Lower OPEX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3950" y="5087469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C9A96E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95390" y="5087469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">
                <a:solidFill>
                  <a:srgbClr val="FFFFFF"/>
                </a:solidFill>
                <a:latin typeface="Inter 24pt"/>
              </a:rPr>
              <a:t>Future Expansion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1871" y="3983206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C9A96E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43311" y="3983206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">
                <a:solidFill>
                  <a:srgbClr val="FFFFFF"/>
                </a:solidFill>
                <a:latin typeface="Inter 24pt"/>
              </a:rPr>
              <a:t>Higher Property Value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9939" y="2606212"/>
            <a:ext cx="1920240" cy="713232"/>
          </a:xfrm>
          <a:prstGeom prst="roundRect">
            <a:avLst>
              <a:gd name="adj" fmla="val 1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C9A96E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11379" y="2606212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20">
                <a:solidFill>
                  <a:srgbClr val="FFFFFF"/>
                </a:solidFill>
                <a:latin typeface="Inter 24pt"/>
              </a:rPr>
              <a:t>Event Readiness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i="0" lang="en-US">
                <a:solidFill>
                  <a:srgbClr val="B0BEC5"/>
                </a:solidFill>
                <a:latin typeface="Inter 18pt Light"/>
              </a:rPr>
              <a:t>Parking becomes a </a:t>
            </a:r>
            <a:r>
              <a:rPr sz="1300" b="1" i="0" lang="en-US">
                <a:solidFill>
                  <a:srgbClr val="C9A96E"/>
                </a:solidFill>
                <a:latin typeface="Inter 24pt"/>
              </a:rPr>
              <a:t>strategic asset</a:t>
            </a:r>
            <a:r>
              <a:rPr sz="1300" b="0" i="0" lang="en-US">
                <a:solidFill>
                  <a:srgbClr val="B0BEC5"/>
                </a:solidFill>
                <a:latin typeface="Inter 18pt Light"/>
              </a:rPr>
              <a:t> — not a space constraint.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07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8121F"/>
              </a:gs>
              <a:gs pos="100000">
                <a:srgbClr val="050C1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0"/>
            <a:ext cx="5516575" cy="6858000"/>
          </a:xfrm>
          <a:prstGeom prst="rect">
            <a:avLst/>
          </a:prstGeom>
          <a:solidFill>
            <a:srgbClr val="004D4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0"/>
            <a:ext cx="5516575" cy="6858000"/>
          </a:xfrm>
          <a:prstGeom prst="rect">
            <a:avLst/>
          </a:prstGeom>
          <a:solidFill>
            <a:srgbClr val="050C1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502920"/>
            <a:ext cx="310896" cy="0"/>
          </a:xfrm>
          <a:prstGeom prst="line">
            <a:avLst/>
          </a:prstGeom>
          <a:ln w="17780">
            <a:solidFill>
              <a:srgbClr val="C9A96E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03720" y="502920"/>
            <a:ext cx="0" cy="310896"/>
          </a:xfrm>
          <a:prstGeom prst="line">
            <a:avLst/>
          </a:prstGeom>
          <a:ln w="17780">
            <a:solidFill>
              <a:srgbClr val="C9A96E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114300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III  ·  THE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60020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4000" b="0" i="0" lang="en-US" spc="-12">
                <a:solidFill>
                  <a:srgbClr val="FFFFFF"/>
                </a:solidFill>
                <a:latin typeface="Inter 24pt Light"/>
              </a:rPr>
              <a:t>India's Trusted</a:t>
            </a:r>
          </a:p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4000" b="0" i="0" lang="en-US" spc="-12">
                <a:solidFill>
                  <a:srgbClr val="FFFFFF"/>
                </a:solidFill>
                <a:latin typeface="Inter 24pt Light"/>
              </a:rPr>
              <a:t>Partner for</a:t>
            </a:r>
          </a:p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4000" b="1" i="0" lang="en-US" spc="-12">
                <a:solidFill>
                  <a:srgbClr val="C9A96E"/>
                </a:solidFill>
                <a:latin typeface="Inter 24pt"/>
              </a:rPr>
              <a:t>Intelligent </a:t>
            </a:r>
          </a:p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4000" b="1" i="0" lang="en-US" spc="-12">
                <a:solidFill>
                  <a:srgbClr val="C9A96E"/>
                </a:solidFill>
                <a:latin typeface="Inter 24pt"/>
              </a:rPr>
              <a:t>Parking.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417320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600" b="1" i="0" lang="en-US" spc="-10">
                <a:solidFill>
                  <a:srgbClr val="C9A96E"/>
                </a:solidFill>
                <a:latin typeface="Inter 24pt"/>
              </a:rPr>
              <a:t>30+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965960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B0BEC5"/>
                </a:solidFill>
                <a:latin typeface="Inter 24pt"/>
              </a:rPr>
              <a:t>YEARS OF ENGINEERING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86600" y="2441448"/>
            <a:ext cx="4023360" cy="0"/>
          </a:xfrm>
          <a:prstGeom prst="line">
            <a:avLst/>
          </a:prstGeom>
          <a:ln w="6350">
            <a:solidFill>
              <a:srgbClr val="FFFFFF">
                <a:alpha val="1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86600" y="2496312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600" b="1" i="0" lang="en-US" spc="-10">
                <a:solidFill>
                  <a:srgbClr val="C9A96E"/>
                </a:solidFill>
                <a:latin typeface="Inter 24pt"/>
              </a:rPr>
              <a:t>10,000+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044952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B0BEC5"/>
                </a:solidFill>
                <a:latin typeface="Inter 24pt"/>
              </a:rPr>
              <a:t>PARKING SPACES DELIVERED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86600" y="3520440"/>
            <a:ext cx="4023360" cy="0"/>
          </a:xfrm>
          <a:prstGeom prst="line">
            <a:avLst/>
          </a:prstGeom>
          <a:ln w="6350">
            <a:solidFill>
              <a:srgbClr val="FFFFFF">
                <a:alpha val="1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86600" y="3575304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600" b="1" i="0" lang="en-US" spc="-10">
                <a:solidFill>
                  <a:srgbClr val="C9A96E"/>
                </a:solidFill>
                <a:latin typeface="Inter 24pt"/>
              </a:rPr>
              <a:t>200,000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123944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B0BEC5"/>
                </a:solidFill>
                <a:latin typeface="Inter 24pt"/>
              </a:rPr>
              <a:t>SQ.FT MANUFACTURING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86600" y="4599432"/>
            <a:ext cx="4023360" cy="0"/>
          </a:xfrm>
          <a:prstGeom prst="line">
            <a:avLst/>
          </a:prstGeom>
          <a:ln w="6350">
            <a:solidFill>
              <a:srgbClr val="FFFFFF">
                <a:alpha val="1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86600" y="4654296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600" b="1" i="0" lang="en-US" spc="-10">
                <a:solidFill>
                  <a:srgbClr val="C9A96E"/>
                </a:solidFill>
                <a:latin typeface="Inter 24pt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202936"/>
            <a:ext cx="420624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B0BEC5"/>
                </a:solidFill>
                <a:latin typeface="Inter 24pt"/>
              </a:rPr>
              <a:t>IN-HOUSE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08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III  ·  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0" i="0" lang="en-US" spc="-10">
                <a:solidFill>
                  <a:srgbClr val="FFFFFF"/>
                </a:solidFill>
                <a:latin typeface="Inter 24pt Light"/>
              </a:rPr>
              <a:t>Engineered for </a:t>
            </a:r>
            <a:r>
              <a:rPr sz="3400" b="1" i="0" lang="en-US" spc="-10">
                <a:solidFill>
                  <a:srgbClr val="C9A96E"/>
                </a:solidFill>
                <a:latin typeface="Inter 24pt"/>
              </a:rPr>
              <a:t>Indian Hotels.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3657600"/>
            <a:ext cx="10104120" cy="0"/>
          </a:xfrm>
          <a:prstGeom prst="line">
            <a:avLst/>
          </a:prstGeom>
          <a:ln w="25400">
            <a:solidFill>
              <a:srgbClr val="128C76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68095" y="3374136"/>
            <a:ext cx="566928" cy="566928"/>
          </a:xfrm>
          <a:prstGeom prst="ellipse">
            <a:avLst/>
          </a:prstGeom>
          <a:solidFill>
            <a:srgbClr val="0E1E33">
              <a:alpha val="100000"/>
            </a:srgbClr>
          </a:solidFill>
          <a:ln w="16510">
            <a:solidFill>
              <a:srgbClr val="128C7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004D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799" y="3410712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9A96E"/>
                </a:solidFill>
                <a:latin typeface="Inter 24p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2423160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 spc="20">
                <a:solidFill>
                  <a:srgbClr val="FFFFFF"/>
                </a:solidFill>
                <a:latin typeface="Inter 24pt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16352"/>
            <a:ext cx="2103120" cy="3657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Customized layouts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051560" y="3090672"/>
            <a:ext cx="0" cy="283464"/>
          </a:xfrm>
          <a:prstGeom prst="line">
            <a:avLst/>
          </a:prstGeom>
          <a:ln w="12700">
            <a:solidFill>
              <a:srgbClr val="128C76">
                <a:alpha val="4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294126" y="3374136"/>
            <a:ext cx="566928" cy="566928"/>
          </a:xfrm>
          <a:prstGeom prst="ellipse">
            <a:avLst/>
          </a:prstGeom>
          <a:solidFill>
            <a:srgbClr val="0E1E33">
              <a:alpha val="100000"/>
            </a:srgbClr>
          </a:solidFill>
          <a:ln w="16510">
            <a:solidFill>
              <a:srgbClr val="128C7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48990" y="3429000"/>
            <a:ext cx="457200" cy="457200"/>
          </a:xfrm>
          <a:prstGeom prst="ellipse">
            <a:avLst/>
          </a:prstGeom>
          <a:solidFill>
            <a:srgbClr val="004D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1830" y="3410712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9A96E"/>
                </a:solidFill>
                <a:latin typeface="Inter 24p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7470" y="42976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 spc="20">
                <a:solidFill>
                  <a:srgbClr val="FFFFFF"/>
                </a:solidFill>
                <a:latin typeface="Inter 24pt"/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6030" y="46817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Made in India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77590" y="3941063"/>
            <a:ext cx="0" cy="283465"/>
          </a:xfrm>
          <a:prstGeom prst="line">
            <a:avLst/>
          </a:prstGeom>
          <a:ln w="12700">
            <a:solidFill>
              <a:srgbClr val="128C76">
                <a:alpha val="4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20156" y="3374136"/>
            <a:ext cx="566928" cy="566928"/>
          </a:xfrm>
          <a:prstGeom prst="ellipse">
            <a:avLst/>
          </a:prstGeom>
          <a:solidFill>
            <a:srgbClr val="0E1E33">
              <a:alpha val="100000"/>
            </a:srgbClr>
          </a:solidFill>
          <a:ln w="16510">
            <a:solidFill>
              <a:srgbClr val="128C7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75020" y="3429000"/>
            <a:ext cx="457200" cy="457200"/>
          </a:xfrm>
          <a:prstGeom prst="ellipse">
            <a:avLst/>
          </a:prstGeom>
          <a:solidFill>
            <a:srgbClr val="004D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7860" y="3410712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9A96E"/>
                </a:solidFill>
                <a:latin typeface="Inter 24p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0" y="2423160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 spc="20">
                <a:solidFill>
                  <a:srgbClr val="FFFFFF"/>
                </a:solidFill>
                <a:latin typeface="Inter 24pt"/>
              </a:rPr>
              <a:t>Manufacturing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2060" y="2816352"/>
            <a:ext cx="2103120" cy="3657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Faster delivery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103620" y="3090672"/>
            <a:ext cx="0" cy="283464"/>
          </a:xfrm>
          <a:prstGeom prst="line">
            <a:avLst/>
          </a:prstGeom>
          <a:ln w="12700">
            <a:solidFill>
              <a:srgbClr val="128C76">
                <a:alpha val="4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346186" y="3374136"/>
            <a:ext cx="566928" cy="566928"/>
          </a:xfrm>
          <a:prstGeom prst="ellipse">
            <a:avLst/>
          </a:prstGeom>
          <a:solidFill>
            <a:srgbClr val="0E1E33">
              <a:alpha val="100000"/>
            </a:srgbClr>
          </a:solidFill>
          <a:ln w="16510">
            <a:solidFill>
              <a:srgbClr val="128C7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1050" y="3429000"/>
            <a:ext cx="457200" cy="457200"/>
          </a:xfrm>
          <a:prstGeom prst="ellipse">
            <a:avLst/>
          </a:prstGeom>
          <a:solidFill>
            <a:srgbClr val="004D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3890" y="3410712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9A96E"/>
                </a:solidFill>
                <a:latin typeface="Inter 24p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9530" y="42976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 spc="20">
                <a:solidFill>
                  <a:srgbClr val="FFFFFF"/>
                </a:solidFill>
                <a:latin typeface="Inter 24pt"/>
              </a:rPr>
              <a:t>Installation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8090" y="46817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Dedicated engineers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29650" y="3941063"/>
            <a:ext cx="0" cy="283465"/>
          </a:xfrm>
          <a:prstGeom prst="line">
            <a:avLst/>
          </a:prstGeom>
          <a:ln w="12700">
            <a:solidFill>
              <a:srgbClr val="128C76">
                <a:alpha val="4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872216" y="3374136"/>
            <a:ext cx="566928" cy="566928"/>
          </a:xfrm>
          <a:prstGeom prst="ellipse">
            <a:avLst/>
          </a:prstGeom>
          <a:solidFill>
            <a:srgbClr val="0E1E33">
              <a:alpha val="100000"/>
            </a:srgbClr>
          </a:solidFill>
          <a:ln w="16510">
            <a:solidFill>
              <a:srgbClr val="128C7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27080" y="3429000"/>
            <a:ext cx="457200" cy="457200"/>
          </a:xfrm>
          <a:prstGeom prst="ellipse">
            <a:avLst/>
          </a:prstGeom>
          <a:solidFill>
            <a:srgbClr val="004D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3410712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C9A96E"/>
                </a:solidFill>
                <a:latin typeface="Inter 24p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423160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 spc="20">
                <a:solidFill>
                  <a:srgbClr val="FFFFFF"/>
                </a:solidFill>
                <a:latin typeface="Inter 24pt"/>
              </a:rPr>
              <a:t>AMC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816352"/>
            <a:ext cx="2103120" cy="3657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24/7 remote monitoring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1155680" y="3090672"/>
            <a:ext cx="0" cy="283464"/>
          </a:xfrm>
          <a:prstGeom prst="line">
            <a:avLst/>
          </a:prstGeom>
          <a:ln w="12700">
            <a:solidFill>
              <a:srgbClr val="128C76">
                <a:alpha val="4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09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8121F"/>
              </a:gs>
              <a:gs pos="100000">
                <a:srgbClr val="050C1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73152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III  ·  THE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143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0" i="0" lang="en-US" spc="-10">
                <a:solidFill>
                  <a:srgbClr val="FFFFFF"/>
                </a:solidFill>
                <a:latin typeface="Inter 24pt Light"/>
              </a:rPr>
              <a:t>The </a:t>
            </a:r>
            <a:r>
              <a:rPr sz="3400" b="1" i="0" lang="en-US" spc="-10">
                <a:solidFill>
                  <a:srgbClr val="C9A96E"/>
                </a:solidFill>
                <a:latin typeface="Inter 24pt"/>
              </a:rPr>
              <a:t>Sieger</a:t>
            </a:r>
            <a:r>
              <a:rPr sz="3400" b="0" i="0" lang="en-US" spc="-10">
                <a:solidFill>
                  <a:srgbClr val="FFFFFF"/>
                </a:solidFill>
                <a:latin typeface="Inter 24pt Light"/>
              </a:rPr>
              <a:t> Difference.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6888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6B7A85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00">
                <a:solidFill>
                  <a:srgbClr val="B0BEC5"/>
                </a:solidFill>
                <a:latin typeface="Inter 24pt"/>
              </a:rPr>
              <a:t>OTHERS / IMPORTED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832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C0554D"/>
                </a:solidFill>
                <a:latin typeface="Inter 24pt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832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B0BEC5"/>
                </a:solidFill>
                <a:latin typeface="Inter 18pt"/>
              </a:rPr>
              <a:t>Imported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C0554D"/>
                </a:solidFill>
                <a:latin typeface="Inter 24pt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8620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B0BEC5"/>
                </a:solidFill>
                <a:latin typeface="Inter 18pt"/>
              </a:rPr>
              <a:t>Long lead 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891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C0554D"/>
                </a:solidFill>
                <a:latin typeface="Inter 24pt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8912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B0BEC5"/>
                </a:solidFill>
                <a:latin typeface="Inter 18pt"/>
              </a:rPr>
              <a:t>Expensive spare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C0554D"/>
                </a:solidFill>
                <a:latin typeface="Inter 24pt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9204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B0BEC5"/>
                </a:solidFill>
                <a:latin typeface="Inter 18pt"/>
              </a:rPr>
              <a:t>Limited customization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C0554D"/>
                </a:solidFill>
                <a:latin typeface="Inter 24pt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9496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B0BEC5"/>
                </a:solidFill>
                <a:latin typeface="Inter 18pt"/>
              </a:rPr>
              <a:t>Third-party 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46888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9A96E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743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00">
                <a:solidFill>
                  <a:srgbClr val="C9A96E"/>
                </a:solidFill>
                <a:latin typeface="Inter 24pt"/>
              </a:rPr>
              <a:t>THE SIEGER 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3832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28C76"/>
                </a:solidFill>
                <a:latin typeface="Inter 24pt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38328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Complete in-house manufacturing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8862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28C76"/>
                </a:solidFill>
                <a:latin typeface="Inter 24pt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88620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Faster, reliable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3891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28C76"/>
                </a:solidFill>
                <a:latin typeface="Inter 24pt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38912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Affordable local spares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8920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28C76"/>
                </a:solidFill>
                <a:latin typeface="Inter 24pt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89204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Fully custom layouts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28C76"/>
                </a:solidFill>
                <a:latin typeface="Inter 24pt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539496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Pan-India direct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10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III  ·  THE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0" i="0" lang="en-US" spc="-10">
                <a:solidFill>
                  <a:srgbClr val="FFFFFF"/>
                </a:solidFill>
                <a:latin typeface="Inter 24pt Light"/>
              </a:rPr>
              <a:t>Proven </a:t>
            </a:r>
            <a:r>
              <a:rPr sz="3400" b="1" i="0" lang="en-US" spc="-10">
                <a:solidFill>
                  <a:srgbClr val="C9A96E"/>
                </a:solidFill>
                <a:latin typeface="Inter 24pt"/>
              </a:rPr>
              <a:t>Across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715768"/>
            <a:ext cx="29077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 lang="en-US" spc="10">
                <a:solidFill>
                  <a:srgbClr val="FFFFFF"/>
                </a:solidFill>
                <a:latin typeface="Inter 24pt"/>
              </a:rPr>
              <a:t>Luxury Hotels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3291839"/>
            <a:ext cx="2907791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C9A96E"/>
                </a:solidFill>
                <a:latin typeface="Inter 24pt"/>
              </a:rPr>
              <a:t>18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33172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C9A96E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715768"/>
            <a:ext cx="29077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 lang="en-US" spc="10">
                <a:solidFill>
                  <a:srgbClr val="08121F"/>
                </a:solidFill>
                <a:latin typeface="Inter 24pt"/>
              </a:rPr>
              <a:t>Hospitals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291839"/>
            <a:ext cx="2907791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3A2E18"/>
                </a:solidFill>
                <a:latin typeface="Inter 24pt"/>
              </a:rPr>
              <a:t>12 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233172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715768"/>
            <a:ext cx="29077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 lang="en-US" spc="10">
                <a:solidFill>
                  <a:srgbClr val="FFFFFF"/>
                </a:solidFill>
                <a:latin typeface="Inter 24pt"/>
              </a:rPr>
              <a:t>IT Parks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3291839"/>
            <a:ext cx="2907791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C9A96E"/>
                </a:solidFill>
                <a:latin typeface="Inter 24pt"/>
              </a:rPr>
              <a:t>20+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87952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572000"/>
            <a:ext cx="29077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 lang="en-US" spc="10">
                <a:solidFill>
                  <a:srgbClr val="FFFFFF"/>
                </a:solidFill>
                <a:latin typeface="Inter 24pt"/>
              </a:rPr>
              <a:t>Commercial Towers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5148072"/>
            <a:ext cx="2907791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C9A96E"/>
                </a:solidFill>
                <a:latin typeface="Inter 24pt"/>
              </a:rPr>
              <a:t>15 PROJECTS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4187952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C9A96E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4572000"/>
            <a:ext cx="29077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 lang="en-US" spc="10">
                <a:solidFill>
                  <a:srgbClr val="08121F"/>
                </a:solidFill>
                <a:latin typeface="Inter 24pt"/>
              </a:rPr>
              <a:t>Residential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5148072"/>
            <a:ext cx="2907791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3A2E18"/>
                </a:solidFill>
                <a:latin typeface="Inter 24pt"/>
              </a:rPr>
              <a:t>25 PROJECTS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9288" y="4187952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9A96E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4572000"/>
            <a:ext cx="29077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 lang="en-US" spc="10">
                <a:solidFill>
                  <a:srgbClr val="FFFFFF"/>
                </a:solidFill>
                <a:latin typeface="Inter 24pt"/>
              </a:rPr>
              <a:t>Mixed-Use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5148072"/>
            <a:ext cx="2907791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80">
                <a:solidFill>
                  <a:srgbClr val="C9A96E"/>
                </a:solidFill>
                <a:latin typeface="Inter 24pt"/>
              </a:rPr>
              <a:t>10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0" i="1" lang="en-US">
                <a:solidFill>
                  <a:srgbClr val="B0BEC5"/>
                </a:solidFill>
                <a:latin typeface="Inter 18pt Light"/>
              </a:rPr>
              <a:t>Trusted for intelligent parking infrastructure across India's most demanding sectors.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11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8121F"/>
              </a:gs>
              <a:gs pos="100000">
                <a:srgbClr val="050C16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015898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2031796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3047695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4063593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079492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095390"/>
            <a:ext cx="12191695" cy="0"/>
          </a:xfrm>
          <a:prstGeom prst="line">
            <a:avLst/>
          </a:prstGeom>
          <a:ln w="6350">
            <a:solidFill>
              <a:srgbClr val="FFFFFF">
                <a:alpha val="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58368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IV  ·  THE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02412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200" b="0" i="0" lang="en-US" spc="-10">
                <a:solidFill>
                  <a:srgbClr val="FFFFFF"/>
                </a:solidFill>
                <a:latin typeface="Inter 24pt Light"/>
              </a:rPr>
              <a:t>The Business Case for </a:t>
            </a:r>
            <a:r>
              <a:rPr sz="3200" b="1" i="0" lang="en-US" spc="-10">
                <a:solidFill>
                  <a:srgbClr val="C9A96E"/>
                </a:solidFill>
                <a:latin typeface="Inter 24pt"/>
              </a:rPr>
              <a:t>MLCP.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28600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96E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5146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200">
                <a:solidFill>
                  <a:srgbClr val="C9A96E"/>
                </a:solidFill>
                <a:latin typeface="Inter 24pt"/>
              </a:rPr>
              <a:t>CAPACITY TRANSFORMATION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108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 spc="180">
                <a:solidFill>
                  <a:srgbClr val="B0BEC5"/>
                </a:solidFill>
                <a:latin typeface="Inter 24pt"/>
              </a:rPr>
              <a:t>CURRENT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456432"/>
            <a:ext cx="1737360" cy="502920"/>
          </a:xfrm>
          <a:prstGeom prst="roundRect">
            <a:avLst>
              <a:gd name="adj" fmla="val 20000"/>
            </a:avLst>
          </a:prstGeom>
          <a:solidFill>
            <a:srgbClr val="6B7A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3346704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200" b="1" i="0" lang="en-US">
                <a:solidFill>
                  <a:srgbClr val="B0BEC5"/>
                </a:solidFill>
                <a:latin typeface="Inter 24pt"/>
              </a:rPr>
              <a:t>90</a:t>
            </a:r>
            <a:r>
              <a:rPr sz="1300" b="0" i="0" lang="en-US">
                <a:solidFill>
                  <a:srgbClr val="6B7A85"/>
                </a:solidFill>
                <a:latin typeface="Inter 18pt"/>
              </a:rPr>
              <a:t>  cars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976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 spc="180">
                <a:solidFill>
                  <a:srgbClr val="C9A96E"/>
                </a:solidFill>
                <a:latin typeface="Inter 24pt"/>
              </a:rPr>
              <a:t>WITH MLCP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645152"/>
            <a:ext cx="4023360" cy="640080"/>
          </a:xfrm>
          <a:prstGeom prst="roundRect">
            <a:avLst>
              <a:gd name="adj" fmla="val 18000"/>
            </a:avLst>
          </a:prstGeom>
          <a:solidFill>
            <a:srgbClr val="C9A96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645152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08121F"/>
                </a:solidFill>
                <a:latin typeface="Inter 24pt"/>
              </a:rPr>
              <a:t>260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572000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128C76"/>
                </a:solidFill>
                <a:latin typeface="Inter 24pt"/>
              </a:rPr>
              <a:t>+189%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B0BEC5"/>
                </a:solidFill>
                <a:latin typeface="Inter 18pt"/>
              </a:rPr>
              <a:t>capacity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286000"/>
            <a:ext cx="2432304" cy="16916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96E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2651760"/>
            <a:ext cx="1975104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 i="0" lang="en-US" spc="-10">
                <a:solidFill>
                  <a:srgbClr val="C9A96E"/>
                </a:solidFill>
                <a:latin typeface="Inter 24pt"/>
              </a:rPr>
              <a:t>90 → 260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3310128"/>
            <a:ext cx="19293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i="0" lang="en-US" spc="120">
                <a:solidFill>
                  <a:srgbClr val="B0BEC5"/>
                </a:solidFill>
                <a:latin typeface="Inter 24pt"/>
              </a:rPr>
              <a:t>CARS ON SAME FOOTPRINT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9136" y="2286000"/>
            <a:ext cx="2432304" cy="16916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96E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7" y="2651760"/>
            <a:ext cx="1975104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 i="0" lang="en-US" spc="-10">
                <a:solidFill>
                  <a:srgbClr val="128C76"/>
                </a:solidFill>
                <a:latin typeface="Inter 24pt"/>
              </a:rPr>
              <a:t>₹ XX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3310128"/>
            <a:ext cx="19293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i="0" lang="en-US" spc="120">
                <a:solidFill>
                  <a:srgbClr val="B0BEC5"/>
                </a:solidFill>
                <a:latin typeface="Inter 24pt"/>
              </a:rPr>
              <a:t>OPEX SAVED / YEAR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142232"/>
            <a:ext cx="2432304" cy="16916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96E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4507992"/>
            <a:ext cx="1975104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 i="0" lang="en-US" spc="-10">
                <a:solidFill>
                  <a:srgbClr val="C9A96E"/>
                </a:solidFill>
                <a:latin typeface="Inter 24pt"/>
              </a:rPr>
              <a:t>XX Yrs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5166360"/>
            <a:ext cx="19293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i="0" lang="en-US" spc="120">
                <a:solidFill>
                  <a:srgbClr val="B0BEC5"/>
                </a:solidFill>
                <a:latin typeface="Inter 24pt"/>
              </a:rPr>
              <a:t>PROJECTED PAYBACK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89136" y="4142232"/>
            <a:ext cx="2432304" cy="169164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96E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7" y="4507992"/>
            <a:ext cx="1975104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600" b="1" i="0" lang="en-US" spc="-10">
                <a:solidFill>
                  <a:srgbClr val="128C76"/>
                </a:solidFill>
                <a:latin typeface="Inter 24pt"/>
              </a:rPr>
              <a:t>Higher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5166360"/>
            <a:ext cx="19293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 i="0" lang="en-US" spc="120">
                <a:solidFill>
                  <a:srgbClr val="B0BEC5"/>
                </a:solidFill>
                <a:latin typeface="Inter 24pt"/>
              </a:rPr>
              <a:t>ASSET 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12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015898"/>
            <a:ext cx="12191695" cy="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2031796"/>
            <a:ext cx="12191695" cy="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3047695"/>
            <a:ext cx="12191695" cy="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4063593"/>
            <a:ext cx="12191695" cy="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079492"/>
            <a:ext cx="12191695" cy="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095390"/>
            <a:ext cx="12191695" cy="0"/>
          </a:xfrm>
          <a:prstGeom prst="line">
            <a:avLst/>
          </a:prstGeom>
          <a:ln w="6350">
            <a:solidFill>
              <a:srgbClr val="FFFFFF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IV  ·  YOUR 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18872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200" b="0" i="0" lang="en-US" spc="-10">
                <a:solidFill>
                  <a:srgbClr val="FFFFFF"/>
                </a:solidFill>
                <a:latin typeface="Inter 24pt Light"/>
              </a:rPr>
              <a:t>Every Hotel Has Hidden</a:t>
            </a:r>
          </a:p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200" b="0" i="0" lang="en-US" spc="-10">
                <a:solidFill>
                  <a:srgbClr val="FFFFFF"/>
                </a:solidFill>
                <a:latin typeface="Inter 24pt Light"/>
              </a:rPr>
              <a:t>Parking </a:t>
            </a:r>
            <a:r>
              <a:rPr sz="3200" b="1" i="0" lang="en-US" spc="-10">
                <a:solidFill>
                  <a:srgbClr val="C9A96E"/>
                </a:solidFill>
                <a:latin typeface="Inter 24pt"/>
              </a:rPr>
              <a:t>Potential.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46120"/>
            <a:ext cx="2542032" cy="173736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28C7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538727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 spc="120">
                <a:solidFill>
                  <a:srgbClr val="C9A96E"/>
                </a:solidFill>
                <a:latin typeface="Inter 24pt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959352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 lang="en-US" spc="10">
                <a:solidFill>
                  <a:srgbClr val="FFFFFF"/>
                </a:solidFill>
                <a:latin typeface="Inter 24pt"/>
              </a:rPr>
              <a:t>Current Basement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450799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Existing layout audit</a:t>
            </a:r>
          </a:p>
        </p:txBody>
      </p:sp>
      <p:sp>
        <p:nvSpPr>
          <p:cNvPr id="27" name="Chevron 26"/>
          <p:cNvSpPr/>
          <p:nvPr/>
        </p:nvSpPr>
        <p:spPr>
          <a:xfrm>
            <a:off x="3337560" y="3968496"/>
            <a:ext cx="292608" cy="292608"/>
          </a:xfrm>
          <a:prstGeom prst="chevron">
            <a:avLst/>
          </a:prstGeom>
          <a:solidFill>
            <a:srgbClr val="C9A96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48456" y="3246120"/>
            <a:ext cx="2542032" cy="173736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28C7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04487" y="3538727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 spc="120">
                <a:solidFill>
                  <a:srgbClr val="C9A96E"/>
                </a:solidFill>
                <a:latin typeface="Inter 24pt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7" y="3959352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 lang="en-US" spc="10">
                <a:solidFill>
                  <a:srgbClr val="FFFFFF"/>
                </a:solidFill>
                <a:latin typeface="Inter 24pt"/>
              </a:rPr>
              <a:t>Capacity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4487" y="450799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Engineering model</a:t>
            </a:r>
          </a:p>
        </p:txBody>
      </p:sp>
      <p:sp>
        <p:nvSpPr>
          <p:cNvPr id="32" name="Chevron 31"/>
          <p:cNvSpPr/>
          <p:nvPr/>
        </p:nvSpPr>
        <p:spPr>
          <a:xfrm>
            <a:off x="6208775" y="3968496"/>
            <a:ext cx="292608" cy="292608"/>
          </a:xfrm>
          <a:prstGeom prst="chevron">
            <a:avLst/>
          </a:prstGeom>
          <a:solidFill>
            <a:srgbClr val="C9A96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19671" y="3246120"/>
            <a:ext cx="2542032" cy="173736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28C76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75703" y="3538727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 spc="120">
                <a:solidFill>
                  <a:srgbClr val="C9A96E"/>
                </a:solidFill>
                <a:latin typeface="Inter 24pt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3" y="3959352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 lang="en-US" spc="10">
                <a:solidFill>
                  <a:srgbClr val="FFFFFF"/>
                </a:solidFill>
                <a:latin typeface="Inter 24pt"/>
              </a:rPr>
              <a:t>Future MLCP Layout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5703" y="450799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Optimised design</a:t>
            </a:r>
          </a:p>
        </p:txBody>
      </p:sp>
      <p:sp>
        <p:nvSpPr>
          <p:cNvPr id="37" name="Chevron 36"/>
          <p:cNvSpPr/>
          <p:nvPr/>
        </p:nvSpPr>
        <p:spPr>
          <a:xfrm>
            <a:off x="9079991" y="3968496"/>
            <a:ext cx="292608" cy="292608"/>
          </a:xfrm>
          <a:prstGeom prst="chevron">
            <a:avLst/>
          </a:prstGeom>
          <a:solidFill>
            <a:srgbClr val="C9A96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90887" y="3246120"/>
            <a:ext cx="2542032" cy="17373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9A96E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19" y="3538727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 spc="120">
                <a:solidFill>
                  <a:srgbClr val="C9A96E"/>
                </a:solidFill>
                <a:latin typeface="Inter 24pt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3959352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 lang="en-US" spc="10">
                <a:solidFill>
                  <a:srgbClr val="FFFFFF"/>
                </a:solidFill>
                <a:latin typeface="Inter 24pt"/>
              </a:rPr>
              <a:t>Revenue Projection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19" y="450799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 lang="en-US" spc="10">
                <a:solidFill>
                  <a:srgbClr val="B0BEC5"/>
                </a:solidFill>
                <a:latin typeface="Inter 18pt"/>
              </a:rPr>
              <a:t>ROI quantified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0" i="0" lang="en-US">
                <a:solidFill>
                  <a:srgbClr val="B0BEC5"/>
                </a:solidFill>
                <a:latin typeface="Inter 18pt Light"/>
              </a:rPr>
              <a:t>Every engagement begins with a </a:t>
            </a:r>
            <a:r>
              <a:rPr sz="1400" b="1" i="0" lang="en-US" spc="10">
                <a:solidFill>
                  <a:srgbClr val="E4CC9A"/>
                </a:solidFill>
                <a:latin typeface="Inter 24pt"/>
              </a:rPr>
              <a:t>complimentary engineering feasibility study.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   /   MLCP INTELLIGENT PARKING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3167" y="64190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 i="0" lang="en-US" spc="300">
                <a:solidFill>
                  <a:srgbClr val="6B7A85"/>
                </a:solidFill>
                <a:latin typeface="Inter 24pt"/>
              </a:rPr>
              <a:t>13 / 14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50C16"/>
              </a:gs>
              <a:gs pos="100000">
                <a:srgbClr val="08121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29400" y="-2240280"/>
            <a:ext cx="6858000" cy="6858000"/>
          </a:xfrm>
          <a:prstGeom prst="ellipse">
            <a:avLst/>
          </a:prstGeom>
          <a:solidFill>
            <a:srgbClr val="C9A96E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474720"/>
            <a:ext cx="5486400" cy="5486400"/>
          </a:xfrm>
          <a:prstGeom prst="ellipse">
            <a:avLst/>
          </a:prstGeom>
          <a:solidFill>
            <a:srgbClr val="004D4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1589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31796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769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63593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7949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39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1288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187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3085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58984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74882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90780" y="0"/>
            <a:ext cx="0" cy="6858000"/>
          </a:xfrm>
          <a:prstGeom prst="line">
            <a:avLst/>
          </a:prstGeom>
          <a:ln w="6350">
            <a:solidFill>
              <a:srgbClr val="FFFFFF">
                <a:alpha val="3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420">
                <a:solidFill>
                  <a:srgbClr val="C9A96E"/>
                </a:solidFill>
                <a:latin typeface="Inter 24pt"/>
              </a:rPr>
              <a:t>ACT IV  · 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325880"/>
            <a:ext cx="64008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0" i="0" lang="en-US" spc="-12">
                <a:solidFill>
                  <a:srgbClr val="FFFFFF"/>
                </a:solidFill>
                <a:latin typeface="Inter 24pt Light"/>
              </a:rPr>
              <a:t>Let's Build South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0" i="0" lang="en-US" spc="-12">
                <a:solidFill>
                  <a:srgbClr val="FFFFFF"/>
                </a:solidFill>
                <a:latin typeface="Inter 24pt Light"/>
              </a:rPr>
              <a:t>India's Next Benchmark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 lang="en-US" spc="-12">
                <a:solidFill>
                  <a:srgbClr val="C9A96E"/>
                </a:solidFill>
                <a:latin typeface="Inter 24pt"/>
              </a:rPr>
              <a:t>Luxury Arrival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 lang="en-US" spc="-12">
                <a:solidFill>
                  <a:srgbClr val="C9A96E"/>
                </a:solidFill>
                <a:latin typeface="Inter 24pt"/>
              </a:rPr>
              <a:t>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240">
                <a:solidFill>
                  <a:srgbClr val="C9A96E"/>
                </a:solidFill>
                <a:latin typeface="Inter 24pt"/>
              </a:rPr>
              <a:t>YOUR JOURNEY</a:t>
            </a:r>
          </a:p>
        </p:txBody>
      </p:sp>
      <p:sp>
        <p:nvSpPr>
          <p:cNvPr id="20" name="Oval 19"/>
          <p:cNvSpPr/>
          <p:nvPr/>
        </p:nvSpPr>
        <p:spPr>
          <a:xfrm>
            <a:off x="992124" y="4668012"/>
            <a:ext cx="118872" cy="11887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51560" y="4800600"/>
            <a:ext cx="0" cy="146304"/>
          </a:xfrm>
          <a:prstGeom prst="line">
            <a:avLst/>
          </a:prstGeom>
          <a:ln w="12700">
            <a:solidFill>
              <a:srgbClr val="C9A96E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25880" y="461772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 lang="en-US" spc="20">
                <a:solidFill>
                  <a:srgbClr val="FFFFFF"/>
                </a:solidFill>
                <a:latin typeface="Inter 18pt"/>
              </a:rPr>
              <a:t>Site Visit</a:t>
            </a:r>
          </a:p>
        </p:txBody>
      </p:sp>
      <p:sp>
        <p:nvSpPr>
          <p:cNvPr id="23" name="Oval 22"/>
          <p:cNvSpPr/>
          <p:nvPr/>
        </p:nvSpPr>
        <p:spPr>
          <a:xfrm>
            <a:off x="992124" y="4997196"/>
            <a:ext cx="118872" cy="11887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051560" y="5129784"/>
            <a:ext cx="0" cy="146304"/>
          </a:xfrm>
          <a:prstGeom prst="line">
            <a:avLst/>
          </a:prstGeom>
          <a:ln w="12700">
            <a:solidFill>
              <a:srgbClr val="C9A96E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25880" y="494690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 lang="en-US" spc="20">
                <a:solidFill>
                  <a:srgbClr val="FFFFFF"/>
                </a:solidFill>
                <a:latin typeface="Inter 18pt"/>
              </a:rPr>
              <a:t>Parking Study</a:t>
            </a:r>
          </a:p>
        </p:txBody>
      </p:sp>
      <p:sp>
        <p:nvSpPr>
          <p:cNvPr id="26" name="Oval 25"/>
          <p:cNvSpPr/>
          <p:nvPr/>
        </p:nvSpPr>
        <p:spPr>
          <a:xfrm>
            <a:off x="992124" y="5326379"/>
            <a:ext cx="118872" cy="118872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51560" y="5458968"/>
            <a:ext cx="0" cy="146304"/>
          </a:xfrm>
          <a:prstGeom prst="line">
            <a:avLst/>
          </a:prstGeom>
          <a:ln w="12700">
            <a:solidFill>
              <a:srgbClr val="C9A96E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25880" y="527608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 lang="en-US" spc="20">
                <a:solidFill>
                  <a:srgbClr val="B0BEC5"/>
                </a:solidFill>
                <a:latin typeface="Inter 18pt"/>
              </a:rPr>
              <a:t>Capacity Simulation</a:t>
            </a:r>
          </a:p>
        </p:txBody>
      </p:sp>
      <p:sp>
        <p:nvSpPr>
          <p:cNvPr id="29" name="Oval 28"/>
          <p:cNvSpPr/>
          <p:nvPr/>
        </p:nvSpPr>
        <p:spPr>
          <a:xfrm>
            <a:off x="992124" y="5655564"/>
            <a:ext cx="118872" cy="118872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051560" y="5788152"/>
            <a:ext cx="0" cy="146304"/>
          </a:xfrm>
          <a:prstGeom prst="line">
            <a:avLst/>
          </a:prstGeom>
          <a:ln w="12700">
            <a:solidFill>
              <a:srgbClr val="C9A96E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25880" y="560527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 lang="en-US" spc="20">
                <a:solidFill>
                  <a:srgbClr val="B0BEC5"/>
                </a:solidFill>
                <a:latin typeface="Inter 18pt"/>
              </a:rPr>
              <a:t>ROI Report</a:t>
            </a:r>
          </a:p>
        </p:txBody>
      </p:sp>
      <p:sp>
        <p:nvSpPr>
          <p:cNvPr id="32" name="Oval 31"/>
          <p:cNvSpPr/>
          <p:nvPr/>
        </p:nvSpPr>
        <p:spPr>
          <a:xfrm>
            <a:off x="992124" y="5984748"/>
            <a:ext cx="118872" cy="118872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51560" y="6117336"/>
            <a:ext cx="0" cy="146304"/>
          </a:xfrm>
          <a:prstGeom prst="line">
            <a:avLst/>
          </a:prstGeom>
          <a:ln w="12700">
            <a:solidFill>
              <a:srgbClr val="C9A96E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25880" y="5934456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 lang="en-US" spc="20">
                <a:solidFill>
                  <a:srgbClr val="B0BEC5"/>
                </a:solidFill>
                <a:latin typeface="Inter 18pt"/>
              </a:rPr>
              <a:t>Proposal</a:t>
            </a:r>
          </a:p>
        </p:txBody>
      </p:sp>
      <p:sp>
        <p:nvSpPr>
          <p:cNvPr id="35" name="Oval 34"/>
          <p:cNvSpPr/>
          <p:nvPr/>
        </p:nvSpPr>
        <p:spPr>
          <a:xfrm>
            <a:off x="992124" y="6313931"/>
            <a:ext cx="118872" cy="118872"/>
          </a:xfrm>
          <a:prstGeom prst="ellipse">
            <a:avLst/>
          </a:prstGeom>
          <a:solidFill>
            <a:srgbClr val="128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62636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 lang="en-US" spc="20">
                <a:solidFill>
                  <a:srgbClr val="B0BEC5"/>
                </a:solidFill>
                <a:latin typeface="Inter 18pt"/>
              </a:rPr>
              <a:t>Installation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1554480"/>
            <a:ext cx="4069080" cy="4297680"/>
          </a:xfrm>
          <a:prstGeom prst="roundRect">
            <a:avLst>
              <a:gd name="adj" fmla="val 6000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C9A96E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19385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300">
                <a:solidFill>
                  <a:srgbClr val="C9A96E"/>
                </a:solidFill>
                <a:latin typeface="Inter 24pt"/>
              </a:rPr>
              <a:t>COMPLIMENTARY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304288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0" i="0" lang="en-US">
                <a:solidFill>
                  <a:srgbClr val="FFFFFF"/>
                </a:solidFill>
                <a:latin typeface="Inter 24pt Light"/>
              </a:rPr>
              <a:t>Parking Intelligence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0" i="0" lang="en-US">
                <a:solidFill>
                  <a:srgbClr val="FFFFFF"/>
                </a:solidFill>
                <a:latin typeface="Inter 24pt Light"/>
              </a:rPr>
              <a:t>Assessment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72400" y="3337560"/>
            <a:ext cx="3246120" cy="0"/>
          </a:xfrm>
          <a:prstGeom prst="line">
            <a:avLst/>
          </a:prstGeom>
          <a:ln w="9525">
            <a:solidFill>
              <a:srgbClr val="C9A96E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0" y="35661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lang="en-US">
                <a:solidFill>
                  <a:srgbClr val="C9A96E"/>
                </a:solidFill>
                <a:latin typeface="Inter 24pt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566160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Engineering Survey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9867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lang="en-US">
                <a:solidFill>
                  <a:srgbClr val="C9A96E"/>
                </a:solidFill>
                <a:latin typeface="Inter 24pt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986784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Capacity Simulation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4074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lang="en-US">
                <a:solidFill>
                  <a:srgbClr val="C9A96E"/>
                </a:solidFill>
                <a:latin typeface="Inter 24pt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407408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Concept Layout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8280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lang="en-US">
                <a:solidFill>
                  <a:srgbClr val="C9A96E"/>
                </a:solidFill>
                <a:latin typeface="Inter 24pt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28032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 lang="en-US" spc="10">
                <a:solidFill>
                  <a:srgbClr val="FFFFFF"/>
                </a:solidFill>
                <a:latin typeface="Inter 18pt"/>
              </a:rPr>
              <a:t>ROI Report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5074920"/>
            <a:ext cx="3246120" cy="566928"/>
          </a:xfrm>
          <a:prstGeom prst="roundRect">
            <a:avLst>
              <a:gd name="adj" fmla="val 22000"/>
            </a:avLst>
          </a:prstGeom>
          <a:solidFill>
            <a:srgbClr val="C9A96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074920"/>
            <a:ext cx="32461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 spc="160">
                <a:solidFill>
                  <a:srgbClr val="08121F"/>
                </a:solidFill>
                <a:latin typeface="Inter 24pt"/>
              </a:rPr>
              <a:t>BOOK YOUR ASSESSMENT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300">
                <a:solidFill>
                  <a:srgbClr val="C9A96E"/>
                </a:solidFill>
                <a:latin typeface="Inter 24pt"/>
              </a:rPr>
              <a:t>SIEGER</a:t>
            </a:r>
            <a:r>
              <a:rPr sz="950" b="0" i="0" lang="en-US" spc="200">
                <a:solidFill>
                  <a:srgbClr val="6B7A85"/>
                </a:solidFill>
                <a:latin typeface="Inter 24pt"/>
              </a:rPr>
              <a:t>   ·   sieger.in   ·   Intelligent Parking, Engineered in India</a:t>
            </a:r>
          </a:p>
        </p:txBody>
      </p:sp>
    </p:spTree>
  </p:cSld>
  <p:clrMapOvr>
    <a:masterClrMapping/>
  </p:clrMapOvr>
  <p:transition xmlns:ns0="http://schemas.openxmlformats.org/markup-compatibility/2006" ns0:Ignorable="p14"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